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導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7D2F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Michibiki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4290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 × エキスパート人材マッチング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4114800"/>
            <a:ext cx="2130552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4348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株式会社Michibiki（設立準備中）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事業計画書  |  2026年3月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日本の採用市場が抱える構造的課題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45920"/>
            <a:ext cx="45720" cy="1737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16万〜79万人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IT人材不足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2030年までに深刻な不足（経産省推計）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645920"/>
            <a:ext cx="45720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737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8倍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8660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医師求人倍率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606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地方の医師不足は深刻な社会問題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931920"/>
            <a:ext cx="45720" cy="1737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45日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0876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平均採用期間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892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書類選考→内定まで優秀人材は他社へ流出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84048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3931920"/>
            <a:ext cx="45720" cy="1737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1605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6.70倍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08660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IT求人倍率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4892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企業間の人材獲得競争が激化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巨大な市場、極小のAI浸透率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日本は世界第2位の人材市場でありながらAI活用は0.1%未満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373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1E1B4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7.5兆円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日本人材紹介市場（世界第2位）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7373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2423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4,490億円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ホワイトカラー人材紹介（+12% YoY）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7373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1737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2423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$83.4M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321040" y="33375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AI採用市場（2035年予測 CAGR 8.97%）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4663440"/>
            <a:ext cx="7616952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4709160"/>
            <a:ext cx="54864" cy="822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466344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AI採用活用率: たった 0.1%未満 — この巨大市場にAIはほぼ未浸透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AI面接 × エキスパート評価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33分野 × 9業界グループ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専門分野に特化したAI面接を提供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20分で完了・24時間365日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バイアスフリーで客観的なスキル評価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Chain-of-Thought評価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思考プロセスそのものを分析する独自技術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APEXスコア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多角的な客観的スキル評価指標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F9FAF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6つのエキスパートトラック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40880" y="2313432"/>
            <a:ext cx="73152" cy="34747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2286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システム設計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22860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シニアエンジニア・アーキテクト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2907792"/>
            <a:ext cx="73152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288036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ML/AIリサーチ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288036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ML/AIエンジニア・研究者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3502152"/>
            <a:ext cx="73152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3474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ファイナンス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0" y="34747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公認会計士・金融専門家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409651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0690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メディカル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0" y="406908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医師・医療専門家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40880" y="4690872"/>
            <a:ext cx="73152" cy="347472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4663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リーガル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0" y="46634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弁護士・法務専門家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5285232"/>
            <a:ext cx="73152" cy="34747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52578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ストラテジー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0" y="52578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経営コンサルタント・戦略家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既に稼働中のプロダクト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多くのスタートアップがアイデア段階の中、当社はプロダクション環境で稼働中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645920"/>
            <a:ext cx="187452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38+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1645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645920"/>
            <a:ext cx="187452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7830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面接カテゴリ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66360" y="1645920"/>
            <a:ext cx="187452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7830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1206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エキスパートトラック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645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1645920"/>
            <a:ext cx="187452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7830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066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APIエンドポイント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1645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8360" y="1645920"/>
            <a:ext cx="187452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0" y="17830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6926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雇用形態対応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フロントエンド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346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型安全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 + Auth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エンジン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92640" y="3794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/>
        </p:spPr>
      </p:sp>
      <p:sp>
        <p:nvSpPr>
          <p:cNvPr id="42" name="Text 40"/>
          <p:cNvSpPr/>
          <p:nvPr/>
        </p:nvSpPr>
        <p:spPr>
          <a:xfrm>
            <a:off x="96926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Vercel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926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5120640"/>
            <a:ext cx="5788152" cy="7315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0" y="5120640"/>
            <a:ext cx="5788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プロダクション環境で稼働中 — Vercelにデプロイ済み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日本市場で唯一のポジション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1645920"/>
            <a:ext cx="2286000" cy="548640"/>
          </a:xfrm>
          <a:prstGeom prst="rect">
            <a:avLst/>
          </a:prstGeom>
          <a:solidFill>
            <a:srgbClr val="1E1B4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645920"/>
            <a:ext cx="4114800" cy="548640"/>
          </a:xfrm>
          <a:prstGeom prst="rect">
            <a:avLst/>
          </a:prstGeom>
          <a:solidFill>
            <a:srgbClr val="1E1B4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1371600" cy="548640"/>
          </a:xfrm>
          <a:prstGeom prst="rect">
            <a:avLst/>
          </a:prstGeom>
          <a:solidFill>
            <a:srgbClr val="1E1B4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645920"/>
            <a:ext cx="1371600" cy="548640"/>
          </a:xfrm>
          <a:prstGeom prst="rect">
            <a:avLst/>
          </a:prstGeom>
          <a:solidFill>
            <a:srgbClr val="1E1B4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専門家評価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219456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BizReach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19456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ハイクラスダイレクトリクルーティング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19456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219456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2743200"/>
            <a:ext cx="22860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doda Direct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2743200"/>
            <a:ext cx="41148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743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幅広い年齢・業界対応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2743200"/>
            <a:ext cx="13716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2743200"/>
            <a:ext cx="13716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32918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Wantedly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0" y="32918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291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ミッションドリブン/スタートアップ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329184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0" y="3291840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0" y="3840480"/>
            <a:ext cx="22860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MS-Japan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0" y="3840480"/>
            <a:ext cx="41148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士業・管理部門特化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0" y="3840480"/>
            <a:ext cx="13716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0" y="3840480"/>
            <a:ext cx="13716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71600" y="4389120"/>
            <a:ext cx="22860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(Michibiki)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0" y="4389120"/>
            <a:ext cx="41148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 × エキスパート評価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772400" y="4389120"/>
            <a:ext cx="13716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4389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144000" y="4389120"/>
            <a:ext cx="137160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0" y="4389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371600" y="5303520"/>
            <a:ext cx="914400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</p:sp>
      <p:sp>
        <p:nvSpPr>
          <p:cNvPr id="56" name="Text 54"/>
          <p:cNvSpPr/>
          <p:nvPr/>
        </p:nvSpPr>
        <p:spPr>
          <a:xfrm>
            <a:off x="1371600" y="5303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競合他社はいずれもAI面接による実力評価機能を持たない — 当社が唯一のプレイヤー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フリーミアム + 成功報酬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37415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永年無料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AI面接練習（無制限）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33分野対応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スキル評価レポート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55448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6459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¥150,000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100回面接/月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詳細候補者レポート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023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候補者プール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480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分析ダッシュボード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155448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16459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1E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¥300,000+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2960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無制限面接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カスタムテンプレート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4023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ATS/HRIS連携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480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専任担当 + SLA 99.9%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5577840"/>
            <a:ext cx="10725912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5778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追加収益: 人材紹介手数料 — 採用決定時に年収の 30-35%（業界標準）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健全なユニットエコノミクス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45920"/>
            <a:ext cx="310896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¥360万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LTV（Business 2年契約）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1089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¥50万以下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CAC目標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6459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645920"/>
            <a:ext cx="31089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783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7.2倍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2296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LTV / CAC比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10725912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SaaSの健全なLTV/CAC比は3倍以上とされており、当社の7.2倍は極めて健全な水準です。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さらに、人材紹介手数料（1件あたり¥250万〜¥500万）が加わることで、LTVは大幅に向上します。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LTV/CAC比の目安: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5166360"/>
            <a:ext cx="1828800" cy="2286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業界平均 3x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5486400"/>
            <a:ext cx="438912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5394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7.2x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3フェーズ成長戦略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3736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基盤構築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0-6ヶ月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株式会社設立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有料職業紹介事業許可取得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ベータユーザー100名獲得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コンテンツマーケティング開始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73736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初期成長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38912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6-12ヶ月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BtoB営業開始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657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企業10社契約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206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月間面接1,000回達成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754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成功事例・ケーススタディ公開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173736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2057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スケール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12-24ヶ月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マーケティング本格化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3657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企業50社契約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206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シリーズA資金調達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ATS/HRIS連携拡充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29260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046720" y="29260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D5D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3年間の売上予測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49377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C7D2F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¥1,200万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5440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5760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47472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¥7,200万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5760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2286000" cy="3657600"/>
          </a:xfrm>
          <a:prstGeom prst="roundRect">
            <a:avLst>
              <a:gd name="adj" fmla="val 3200"/>
            </a:avLst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¥2.4億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5760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206240"/>
            <a:ext cx="9445752" cy="914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損益分岐点: Year 2 後半（約30社契約時）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参考事例: Mercor USの急成長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3716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377440"/>
            <a:ext cx="9445752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148840"/>
            <a:ext cx="502920" cy="502920"/>
          </a:xfrm>
          <a:prstGeom prst="ellipse">
            <a:avLst/>
          </a:prstGeom>
          <a:solidFill>
            <a:srgbClr val="C7D2F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$3.6M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Series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$32M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21488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Series 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$100M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Feb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75520" y="21488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Series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$350M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Oct 2025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E2A5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931920"/>
            <a:ext cx="31089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$10B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152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最新評価額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3931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E2A5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3931920"/>
            <a:ext cx="31089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$450-500M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48056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ARR（2025年9月）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3931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E2A5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3931920"/>
            <a:ext cx="310896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2F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2年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22960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創業からの期間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日本版Mercorとしての圧倒的なポテンシャル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チーム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0" y="1920240"/>
            <a:ext cx="1097280" cy="10972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9202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F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[創業者氏名]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CEO / Founder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プロダクト設計・開発・戦略を一貫して担当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AI/ML技術に精通、フルスタック開発実績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  単独でプロダクションレディのWebアプリを構築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331720"/>
            <a:ext cx="45720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事業運営・営業・パートナーシップ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0" y="2286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337560"/>
            <a:ext cx="45720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シニアエンジニア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プロダクト開発・インフラ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0" y="32918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429768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4343400"/>
            <a:ext cx="4572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297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営業担当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663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BtoB営業・カスタマーサクセス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0" y="42976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530352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0" y="5349240"/>
            <a:ext cx="4572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5303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マーケター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コンテンツ・広告・ブランディング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58400" y="53035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シードラウンド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554480"/>
            <a:ext cx="310896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¥2,000万〜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554480"/>
            <a:ext cx="31089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J-KISS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調達手段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554480"/>
            <a:ext cx="31089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91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¥2億〜3億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プレバリュエーション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資金使途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4290365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1885" y="3840480"/>
            <a:ext cx="2145182" cy="4572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2" name="Shape 20"/>
          <p:cNvSpPr/>
          <p:nvPr/>
        </p:nvSpPr>
        <p:spPr>
          <a:xfrm>
            <a:off x="7167067" y="3840480"/>
            <a:ext cx="1791227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8958295" y="3840480"/>
            <a:ext cx="1791227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49522" y="3840480"/>
            <a:ext cx="70791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645152"/>
            <a:ext cx="228600" cy="2286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人件費（6ヶ月）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¥1,200万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645152"/>
            <a:ext cx="228600" cy="2286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運転資金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892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¥600万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12480" y="4645152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78240" y="4892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¥500万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API・インフラ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5715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¥500万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5468112"/>
            <a:ext cx="228600" cy="2286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法人設立・許可取得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5715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¥200万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リスク管理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3716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309360"/>
            <a:ext cx="1109167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 |  株式会社Michibiki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規制リスク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755648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556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有料職業紹介事業許可の要件充足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5544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5544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資本金¥500万確保、職業紹介責任者講習を受講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468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競合リスク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2670048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670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468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大手企業のAI採用市場参入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4688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24688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先行者優位とAI面接技術の差別化で対抗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AI規制リスク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3584448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5844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383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政府のAI利用ガイドライン強化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33832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33832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Human-in-the-loop設計で完全準拠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採用リスク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4498848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44988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42976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COO・エンジニアなどキー人材確保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42976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4297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ストックオプション制度を設計し魅力的な報酬体系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212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技術リスク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51760" y="5413248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5413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52120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特定AIモデルへの依存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52120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32320" y="52120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マルチモデル対応設計（Claude + 代替モデル）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AIが導く、日本の採用革命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121889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4F46E5">
                    <a:alpha val="70000"/>
                  </a:srgbClr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導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日本の7.5兆円の採用市場を、AIで変革する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30552" cy="182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contact@michibiki.ai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52578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株式会社Michibiki（設立準備中）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6035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2026-03-24T09:20:27Z</dcterms:created>
  <dcterms:modified xsi:type="dcterms:W3CDTF">2026-03-24T09:20:27Z</dcterms:modified>
</cp:coreProperties>
</file>