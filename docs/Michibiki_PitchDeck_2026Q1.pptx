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売上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12E8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</c:v>
                </c:pt>
                <c:pt idx="1">
                  <c:v>7200</c:v>
                </c:pt>
                <c:pt idx="2">
                  <c:v>24000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12E8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使途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CA3AF"/>
              </a:solidFill>
              <a:effectLst/>
            </c:spPr>
          </c:dPt>
          <c:dPt>
            <c:idx val="1"/>
            <c:bubble3D val="0"/>
            <c:spPr>
              <a:solidFill>
                <a:srgbClr val="4F46E5"/>
              </a:solidFill>
              <a:effectLst/>
            </c:spPr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bubble3D val="0"/>
            <c:spPr>
              <a:solidFill>
                <a:srgbClr val="059669"/>
              </a:solidFill>
              <a:effectLst/>
            </c:spPr>
          </c:dPt>
          <c:dPt>
            <c:idx val="4"/>
            <c:bubble3D val="0"/>
            <c:spPr>
              <a:solidFill>
                <a:srgbClr val="312E8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法人設立・許可</c:v>
                </c:pt>
                <c:pt idx="1">
                  <c:v>人件費(6M)</c:v>
                </c:pt>
                <c:pt idx="2">
                  <c:v>マーケティング</c:v>
                </c:pt>
                <c:pt idx="3">
                  <c:v>運転資金</c:v>
                </c:pt>
                <c:pt idx="4">
                  <c:v>API・インフラ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200</c:v>
                </c:pt>
                <c:pt idx="1">
                  <c:v>1200</c:v>
                </c:pt>
                <c:pt idx="2">
                  <c:v>500</c:v>
                </c:pt>
                <c:pt idx="3">
                  <c:v>600</c:v>
                </c:pt>
                <c:pt idx="4">
                  <c:v>500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548640"/>
            <a:ext cx="9144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4F46E5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導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0" y="2377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spc="400" kern="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Michibiki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0" y="3017520"/>
            <a:ext cx="274320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AI面接 × エキスパート人材マッチング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023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Seed Round Pitch Deck  |  2026年3月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4480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F973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日本の採用市場が抱える構造的課題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Problem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 Michibiki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097280"/>
            <a:ext cx="18288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80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79万人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IT人材不足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（2030年予測）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61488" y="109728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61488" y="1097280"/>
            <a:ext cx="18288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2761488" y="1280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8倍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761488" y="2011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地方の医師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求人倍率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37176" y="109728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37176" y="1097280"/>
            <a:ext cx="18288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4837176" y="1280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45日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837176" y="2011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平均採用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リードタイム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12864" y="1097280"/>
            <a:ext cx="1828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12864" y="1097280"/>
            <a:ext cx="18288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6912864" y="1280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46E5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0.1%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912864" y="20116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AI採用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活用率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3017520"/>
            <a:ext cx="7772400" cy="6400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3017520"/>
            <a:ext cx="54864" cy="6400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017520"/>
            <a:ext cx="7452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12E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日本の大手企業の70%がAIを採用に活用していない。しかょ85%が人材確保に苦戦している。このギャップが機会。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巨大な市場、未開拓のAI領域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 Michibiki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14400" y="1005840"/>
            <a:ext cx="3291840" cy="3291840"/>
          </a:xfrm>
          <a:prstGeom prst="ellipse">
            <a:avLst/>
          </a:prstGeom>
          <a:solidFill>
            <a:srgbClr val="EEF2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097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63040" y="1554480"/>
            <a:ext cx="2194560" cy="2194560"/>
          </a:xfrm>
          <a:prstGeom prst="ellipse">
            <a:avLst/>
          </a:prstGeom>
          <a:solidFill>
            <a:srgbClr val="C7D2FE"/>
          </a:solidFill>
          <a:ln w="19050">
            <a:solidFill>
              <a:srgbClr val="4F46E5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600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12E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2103120"/>
            <a:ext cx="1097280" cy="10972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2468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54864" cy="100584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70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TAM: 日本人材紹介市場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¥7.5兆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937760" y="18105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世界第2位の市場規模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33172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331720"/>
            <a:ext cx="54864" cy="10058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4048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SAM: ホワイトカラー人材紹介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46E5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¥4,490億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937760" y="30449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FY2024 / 前年比 +12%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56616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566160"/>
            <a:ext cx="54864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6393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SOM: AI採用市場（2035年）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886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$83.4M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937760" y="42793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CAGR 8.97%の成長予測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AIが20分で、人間の面接官より正確に評価する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Solution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 Michibiki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097280"/>
            <a:ext cx="18288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1417320" y="1280160"/>
            <a:ext cx="365760" cy="3657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33分野 × 9業界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専門領域に特化した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AI面接を提供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61488" y="109728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61488" y="1097280"/>
            <a:ext cx="18288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Shape 12"/>
          <p:cNvSpPr/>
          <p:nvPr/>
        </p:nvSpPr>
        <p:spPr>
          <a:xfrm>
            <a:off x="3493008" y="128016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2761488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Chain-of-Thought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61488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思考プロセスを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多角的に分析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37176" y="109728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37176" y="1097280"/>
            <a:ext cx="18288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Shape 17"/>
          <p:cNvSpPr/>
          <p:nvPr/>
        </p:nvSpPr>
        <p:spPr>
          <a:xfrm>
            <a:off x="5568696" y="128016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4837176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APEXスコア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37176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客観的かつ再現性の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高いスキル評価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12864" y="109728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12864" y="1097280"/>
            <a:ext cx="1828800" cy="54864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24" name="Shape 22"/>
          <p:cNvSpPr/>
          <p:nvPr/>
        </p:nvSpPr>
        <p:spPr>
          <a:xfrm>
            <a:off x="7644384" y="1280160"/>
            <a:ext cx="365760" cy="36576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25" name="Text 23"/>
          <p:cNvSpPr/>
          <p:nvPr/>
        </p:nvSpPr>
        <p:spPr>
          <a:xfrm>
            <a:off x="6912864" y="1737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24/365対応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12864" y="2057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いつでもどこでも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バイアスフリー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" y="2880360"/>
            <a:ext cx="7772400" cy="59436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288036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従来の採用プロセス: 平均45日 → 導のAI面接: わずか20分で完了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プロダクトは既に稼働中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Product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 Michibiki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1737360" cy="105156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051560"/>
            <a:ext cx="173736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188720"/>
            <a:ext cx="17373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38+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85800" y="1629918"/>
            <a:ext cx="173736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ページ数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70048" y="1051560"/>
            <a:ext cx="1737360" cy="105156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70048" y="1051560"/>
            <a:ext cx="173736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2670048" y="1188720"/>
            <a:ext cx="17373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70048" y="1629918"/>
            <a:ext cx="173736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面接カテゴリー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54296" y="1051560"/>
            <a:ext cx="1737360" cy="105156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54296" y="1051560"/>
            <a:ext cx="173736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4654296" y="1188720"/>
            <a:ext cx="17373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54296" y="1629918"/>
            <a:ext cx="173736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エキスパート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トラック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38544" y="1051560"/>
            <a:ext cx="1737360" cy="105156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38544" y="1051560"/>
            <a:ext cx="173736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6638544" y="1188720"/>
            <a:ext cx="17373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638544" y="1629918"/>
            <a:ext cx="1737360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雇用形態対応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技術スタック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2697480"/>
            <a:ext cx="1828800" cy="6858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Next.js 16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フロントエンド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97480" y="2697480"/>
            <a:ext cx="1828800" cy="6858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8" name="Text 26"/>
          <p:cNvSpPr/>
          <p:nvPr/>
        </p:nvSpPr>
        <p:spPr>
          <a:xfrm>
            <a:off x="269748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API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69748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エンジン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697480"/>
            <a:ext cx="1828800" cy="6858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Supabase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0916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データベース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20840" y="2697480"/>
            <a:ext cx="1828800" cy="6858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84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2E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Vercel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2084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デプロイ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5800" y="3611880"/>
            <a:ext cx="777240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7" name="Shape 35"/>
          <p:cNvSpPr/>
          <p:nvPr/>
        </p:nvSpPr>
        <p:spPr>
          <a:xfrm>
            <a:off x="685800" y="3611880"/>
            <a:ext cx="54864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3611880"/>
            <a:ext cx="7452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多くのスタートアップがアイデア段階の中、当社はフルスタックのプロダクションアプリを完成・デプロイ済み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6つの専門家評価トラック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Expert Tracks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 Michibiki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051560"/>
            <a:ext cx="246888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188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システム設計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1600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シニアエンジニア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アーキテクト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05156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051560"/>
            <a:ext cx="2468880" cy="4572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188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ML / AI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1600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MLエンジニア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研究者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105156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1051560"/>
            <a:ext cx="246888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5989320" y="1188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ファイナンス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89320" y="1600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公認会計士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金融専門家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246888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2468880"/>
            <a:ext cx="246888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メディカル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3017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医療専門家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246888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37560" y="2468880"/>
            <a:ext cx="246888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リーガル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337560" y="3017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弁護士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法務専門家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89320" y="2468880"/>
            <a:ext cx="24688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2468880"/>
            <a:ext cx="2468880" cy="45720"/>
          </a:xfrm>
          <a:prstGeom prst="rect">
            <a:avLst/>
          </a:prstGeom>
          <a:solidFill>
            <a:srgbClr val="2E2664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2606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26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ストラテジー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89320" y="30175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経営コンサル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戦略家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" y="3931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各トラック: ケーススタディ形式 × Chain-of-Thought評価 × 30〜40分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フリーミアム + 人材紹介手数料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 Michibiki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2468880" cy="228600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051560"/>
            <a:ext cx="2468880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188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Free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1508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60120" y="1965960"/>
            <a:ext cx="1920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0574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AI面接練習（無制限）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33分野対応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スキル評価レポート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1051560"/>
            <a:ext cx="24688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29000" y="1051560"/>
            <a:ext cx="24688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188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Business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9000" y="1508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¥150,000/月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703320" y="1965960"/>
            <a:ext cx="1920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20574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100回面接/月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詳細候補者レポート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候補者プール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分析ダッシュボード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4688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051560"/>
            <a:ext cx="24688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188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72200" y="1508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¥300,000+/月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446520" y="1965960"/>
            <a:ext cx="1920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20574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無制限面接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カスタムテンプレート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ATS/HRIS連携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専任担当・SLA 99.9%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" y="3566160"/>
            <a:ext cx="3840480" cy="59436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3566160"/>
            <a:ext cx="54864" cy="5943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5661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12E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追加収益: 人材紹介手数料（年収の30-35%）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3566160"/>
            <a:ext cx="3886200" cy="59436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29" name="Shape 27"/>
          <p:cNvSpPr/>
          <p:nvPr/>
        </p:nvSpPr>
        <p:spPr>
          <a:xfrm>
            <a:off x="4709160" y="3566160"/>
            <a:ext cx="54864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56616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LTV/CAC比: 7.2倍（健全な水準）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唯一のAI面接 × エキスパート評価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 Michibiki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097280"/>
          <a:ext cx="7772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1097280"/>
                <a:gridCol w="1280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特徴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AI面接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専門家評価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BizReach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ハイクラスダイレクトリクルーティング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doda Direct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幅広い年齢・業界対応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Wantedly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ミッションドリブン/スタートアップ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MS-Japan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士業・管理部門特化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CA3A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4F46E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導 (Michibiki)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F46E5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AI面接×エキスパート評価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◎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05966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◎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3154680"/>
            <a:ext cx="7772400" cy="502920"/>
          </a:xfrm>
          <a:prstGeom prst="rect">
            <a:avLst/>
          </a:prstGeom>
          <a:solidFill>
            <a:srgbClr val="EEF2FF">
              <a:alpha val="40000"/>
            </a:srgbClr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6つの競争優位性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Competitive Moat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 Michibiki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188720"/>
            <a:ext cx="411480" cy="4114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188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日本市場唯一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AI面接プラットフォーム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05156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188720"/>
            <a:ext cx="411480" cy="4114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77640" y="1188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First Mover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7764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Mercor USモデル日本版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105156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188720"/>
            <a:ext cx="411480" cy="4114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1188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独自技術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2940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Chain-of-Thought評価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" y="242316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2560320"/>
            <a:ext cx="411480" cy="4114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25880" y="2560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日本語特化AI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2926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他社は英語ベース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37560" y="242316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0" y="2560320"/>
            <a:ext cx="411480" cy="4114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977640" y="2560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プロダクト稼働済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977640" y="2926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競合はアイデア段階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89320" y="2423160"/>
            <a:ext cx="24688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2560320"/>
            <a:ext cx="411480" cy="4114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29400" y="2560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規制準拠設計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629400" y="2926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Human-in-the-loop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Mercor US: 同モデルで評価額$10B達成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Market Validation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 Michibiki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05840" y="1828800"/>
            <a:ext cx="7132320" cy="0"/>
          </a:xfrm>
          <a:prstGeom prst="line">
            <a:avLst/>
          </a:prstGeom>
          <a:noFill/>
          <a:ln w="3810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719072"/>
            <a:ext cx="219456" cy="21945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25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Seed $3.6M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286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創業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73552" y="1719072"/>
            <a:ext cx="219456" cy="21945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1325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$32M / $250M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286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Series 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50992" y="1719072"/>
            <a:ext cx="219456" cy="21945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1325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2025.2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$100M / $2B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286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Series 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028432" y="1719072"/>
            <a:ext cx="219456" cy="21945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1325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2025.10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06640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$350M / $10B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0" y="2286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Series 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" y="2834640"/>
            <a:ext cx="2468880" cy="10972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2834640"/>
            <a:ext cx="246888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2971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$10B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85800" y="34381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評価額（2025年10月）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2834640"/>
            <a:ext cx="2468880" cy="10972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83280" y="2834640"/>
            <a:ext cx="246888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0" y="2971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$450M+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3383280" y="34381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ARR（2025年9月）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80760" y="2834640"/>
            <a:ext cx="2468880" cy="109728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0760" y="2834640"/>
            <a:ext cx="246888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6080760" y="2971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$519M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080760" y="343814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累計調達額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「日本版Mercor」としてのポジショニング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3年間の成長計画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Financial Projections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 Michibiki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105156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303520" y="1097280"/>
            <a:ext cx="3291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0" y="1097280"/>
            <a:ext cx="54864" cy="731520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0" y="1143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Year 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5563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¥1,200万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949440" y="1143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5社契約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03520" y="2011680"/>
            <a:ext cx="3291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03520" y="2011680"/>
            <a:ext cx="54864" cy="7315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0" y="2057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Year 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¥7,200万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949440" y="2057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25社 / 損益分岐点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303520" y="2926080"/>
            <a:ext cx="3291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303520" y="2926080"/>
            <a:ext cx="54864" cy="731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0" y="2971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Year 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¥2.4億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949440" y="2971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80社 / 営業利益¥9,400万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85800" y="3977640"/>
            <a:ext cx="7772400" cy="4114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39776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損益分岐点: Year 2後半（約30社契約時点）に達成見込み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3フェーズの成長戦略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Go-to-Market Strategy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 Michibiki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051560"/>
            <a:ext cx="24688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188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4F46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0-6ヶ月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基盤構築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60120" y="2103120"/>
            <a:ext cx="1920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1945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法人設立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有料職業紹介許可取得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ベータユーザー100名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エンジェル投資家アプローチ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0" y="105156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0" y="1051560"/>
            <a:ext cx="24688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188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73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6-12ヶ月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初期成長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749040" y="2103120"/>
            <a:ext cx="1920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21945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BtoB営業開始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企業10社契約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月間AI面接1,000回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成功事例構築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105156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1051560"/>
            <a:ext cx="24688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188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12-24ヶ月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691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スケール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537960" y="2103120"/>
            <a:ext cx="19202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1945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企業50社契約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シリーズA調達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ATS/HRIS連携拡充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RLHFデータ事業開始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46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035040" y="2011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F46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シードラウンド: ¥2,000万〜¥5,000万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Fundraising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 Michibiki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2468880" cy="100584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051560"/>
            <a:ext cx="2468880" cy="457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1887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F46E5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J-KISS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85800" y="1604772"/>
            <a:ext cx="2468880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調達手段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051560"/>
            <a:ext cx="2468880" cy="100584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051560"/>
            <a:ext cx="246888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1887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¥2〜3億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83280" y="1604772"/>
            <a:ext cx="2468880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プレバリュエーション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051560"/>
            <a:ext cx="2468880" cy="1005840"/>
          </a:xfrm>
          <a:prstGeom prst="rect">
            <a:avLst/>
          </a:prstGeom>
          <a:solidFill>
            <a:srgbClr val="F9FA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051560"/>
            <a:ext cx="246888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11887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¥2,000万〜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080760" y="1604772"/>
            <a:ext cx="2468880" cy="3520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調達目標</a:t>
            </a:r>
            <a:endParaRPr lang="en-US" sz="10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85800" y="2286000"/>
          <a:ext cx="36576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4572000" y="2331720"/>
            <a:ext cx="137160" cy="27432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1" name="Text 18"/>
          <p:cNvSpPr/>
          <p:nvPr/>
        </p:nvSpPr>
        <p:spPr>
          <a:xfrm>
            <a:off x="480060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法人設立・許可取得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94944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¥200万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138160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7%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72000" y="2715768"/>
            <a:ext cx="137160" cy="2743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2715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人件費（6ヶ月）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49440" y="2715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¥1,200万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138160" y="27157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40%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572000" y="3099816"/>
            <a:ext cx="137160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9" name="Text 26"/>
          <p:cNvSpPr/>
          <p:nvPr/>
        </p:nvSpPr>
        <p:spPr>
          <a:xfrm>
            <a:off x="4800600" y="30998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マーケティング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949440" y="30998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¥500万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138160" y="3099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17%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572000" y="3483864"/>
            <a:ext cx="13716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Text 30"/>
          <p:cNvSpPr/>
          <p:nvPr/>
        </p:nvSpPr>
        <p:spPr>
          <a:xfrm>
            <a:off x="4800600" y="34838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運転資金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949440" y="34838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¥600万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138160" y="34838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20%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572000" y="3867912"/>
            <a:ext cx="137160" cy="27432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37" name="Text 34"/>
          <p:cNvSpPr/>
          <p:nvPr/>
        </p:nvSpPr>
        <p:spPr>
          <a:xfrm>
            <a:off x="4800600" y="38679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API・インフラ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949440" y="38679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¥500万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138160" y="38679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17%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09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B4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" y="82296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Team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導 Michibiki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097280"/>
            <a:ext cx="36576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2057400" y="1325880"/>
            <a:ext cx="914400" cy="914400"/>
          </a:xfrm>
          <a:prstGeom prst="ellipse">
            <a:avLst/>
          </a:prstGeom>
          <a:solidFill>
            <a:srgbClr val="EEF2FF"/>
          </a:solidFill>
          <a:ln w="25400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13258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CEO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[創業者氏名]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CEO / Founder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880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プロダクト設計・開発・ビジネス戦略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AI・ML技術に精通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単独でプロダクション環境構築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0" y="1097280"/>
            <a:ext cx="4297680" cy="53035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297680" y="1097280"/>
            <a:ext cx="45720" cy="5303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109728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109728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事業運営・営業・パートナーシップ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589520" y="109728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97680" y="1737360"/>
            <a:ext cx="4297680" cy="53035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0" name="Shape 18"/>
          <p:cNvSpPr/>
          <p:nvPr/>
        </p:nvSpPr>
        <p:spPr>
          <a:xfrm>
            <a:off x="4297680" y="1737360"/>
            <a:ext cx="45720" cy="5303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4434840" y="173736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シニアエンジニア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173736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プロダクト開発・インフラ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89520" y="173736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97680" y="2377440"/>
            <a:ext cx="4297680" cy="53035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297680" y="2377440"/>
            <a:ext cx="45720" cy="530352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237744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営業担当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237744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BtoB営業・カスタマーサクセス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89520" y="237744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97680" y="3017520"/>
            <a:ext cx="4297680" cy="530352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0" name="Shape 28"/>
          <p:cNvSpPr/>
          <p:nvPr/>
        </p:nvSpPr>
        <p:spPr>
          <a:xfrm>
            <a:off x="4297680" y="3017520"/>
            <a:ext cx="45720" cy="530352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1" name="Text 29"/>
          <p:cNvSpPr/>
          <p:nvPr/>
        </p:nvSpPr>
        <p:spPr>
          <a:xfrm>
            <a:off x="4434840" y="301752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マーケター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30175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コンテンツ・広告・ブランディング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89520" y="3017520"/>
            <a:ext cx="914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5800" y="3749040"/>
            <a:ext cx="7772400" cy="4572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3749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12E8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アドバイザー: 業界エキスパート・連続起業家を構築中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36576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4F46E5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導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0" y="2194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AI面接で、日本の人材市場を変える。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200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46E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contact@michibiki.ai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3566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株式会社Michibiki（設立準備中）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42976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F9731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Michibiki Pitch Deck 2026 Q1</dc:title>
  <dc:subject>PptxGenJS Presentation</dc:subject>
  <dc:creator>Michibiki</dc:creator>
  <cp:lastModifiedBy>Michibiki</cp:lastModifiedBy>
  <cp:revision>1</cp:revision>
  <dcterms:created xsi:type="dcterms:W3CDTF">2026-03-24T16:06:01Z</dcterms:created>
  <dcterms:modified xsi:type="dcterms:W3CDTF">2026-03-24T16:06:01Z</dcterms:modified>
</cp:coreProperties>
</file>